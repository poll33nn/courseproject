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6" r:id="rId4"/>
    <p:sldId id="267" r:id="rId5"/>
    <p:sldId id="268" r:id="rId6"/>
    <p:sldId id="269" r:id="rId7"/>
    <p:sldId id="270" r:id="rId8"/>
    <p:sldId id="271" r:id="rId9"/>
    <p:sldId id="272" r:id="rId10"/>
    <p:sldId id="273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orient="horz" pos="2160" userDrawn="1">
          <p15:clr>
            <a:srgbClr val="A4A3A4"/>
          </p15:clr>
        </p15:guide>
        <p15:guide id="3" pos="3840" userDrawn="1">
          <p15:clr>
            <a:srgbClr val="A4A3A4"/>
          </p15:clr>
        </p15:guide>
        <p15:guide id="4" orient="horz" pos="129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E8B56"/>
    <a:srgbClr val="F5F5F5"/>
    <a:srgbClr val="98FB9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525" autoAdjust="0"/>
    <p:restoredTop sz="93326" autoAdjust="0"/>
  </p:normalViewPr>
  <p:slideViewPr>
    <p:cSldViewPr snapToGrid="0">
      <p:cViewPr varScale="1">
        <p:scale>
          <a:sx n="112" d="100"/>
          <a:sy n="112" d="100"/>
        </p:scale>
        <p:origin x="576" y="108"/>
      </p:cViewPr>
      <p:guideLst>
        <p:guide orient="horz" pos="2160"/>
        <p:guide pos="3840"/>
        <p:guide orient="horz" pos="129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9942A-D9E2-4562-9020-B25855B812C7}" type="datetimeFigureOut">
              <a:rPr lang="ru-RU" smtClean="0"/>
              <a:t>08.12.2025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F6654-77E9-4764-AB7C-7EA1868FDE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48556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9942A-D9E2-4562-9020-B25855B812C7}" type="datetimeFigureOut">
              <a:rPr lang="ru-RU" smtClean="0"/>
              <a:t>08.12.2025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F6654-77E9-4764-AB7C-7EA1868FDE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26909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9942A-D9E2-4562-9020-B25855B812C7}" type="datetimeFigureOut">
              <a:rPr lang="ru-RU" smtClean="0"/>
              <a:t>08.12.2025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F6654-77E9-4764-AB7C-7EA1868FDE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18349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9942A-D9E2-4562-9020-B25855B812C7}" type="datetimeFigureOut">
              <a:rPr lang="ru-RU" smtClean="0"/>
              <a:t>08.12.2025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F6654-77E9-4764-AB7C-7EA1868FDE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5815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9942A-D9E2-4562-9020-B25855B812C7}" type="datetimeFigureOut">
              <a:rPr lang="ru-RU" smtClean="0"/>
              <a:t>08.12.2025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F6654-77E9-4764-AB7C-7EA1868FDE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26049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9942A-D9E2-4562-9020-B25855B812C7}" type="datetimeFigureOut">
              <a:rPr lang="ru-RU" smtClean="0"/>
              <a:t>08.12.2025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F6654-77E9-4764-AB7C-7EA1868FDE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47720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9942A-D9E2-4562-9020-B25855B812C7}" type="datetimeFigureOut">
              <a:rPr lang="ru-RU" smtClean="0"/>
              <a:t>08.12.2025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F6654-77E9-4764-AB7C-7EA1868FDE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95500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9942A-D9E2-4562-9020-B25855B812C7}" type="datetimeFigureOut">
              <a:rPr lang="ru-RU" smtClean="0"/>
              <a:t>08.12.2025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F6654-77E9-4764-AB7C-7EA1868FDE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61011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9942A-D9E2-4562-9020-B25855B812C7}" type="datetimeFigureOut">
              <a:rPr lang="ru-RU" smtClean="0"/>
              <a:t>08.12.2025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F6654-77E9-4764-AB7C-7EA1868FDE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4171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9942A-D9E2-4562-9020-B25855B812C7}" type="datetimeFigureOut">
              <a:rPr lang="ru-RU" smtClean="0"/>
              <a:t>08.12.2025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F6654-77E9-4764-AB7C-7EA1868FDE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56694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9942A-D9E2-4562-9020-B25855B812C7}" type="datetimeFigureOut">
              <a:rPr lang="ru-RU" smtClean="0"/>
              <a:t>08.12.2025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F6654-77E9-4764-AB7C-7EA1868FDE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11194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99942A-D9E2-4562-9020-B25855B812C7}" type="datetimeFigureOut">
              <a:rPr lang="ru-RU" smtClean="0"/>
              <a:t>08.12.2025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FF6654-77E9-4764-AB7C-7EA1868FDE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00836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8" Type="http://schemas.openxmlformats.org/officeDocument/2006/relationships/image" Target="../media/image9.png"/><Relationship Id="rId3" Type="http://schemas.openxmlformats.org/officeDocument/2006/relationships/image" Target="../media/image7.png"/><Relationship Id="rId17" Type="http://schemas.openxmlformats.org/officeDocument/2006/relationships/image" Target="../media/image8.png"/><Relationship Id="rId2" Type="http://schemas.openxmlformats.org/officeDocument/2006/relationships/image" Target="../media/image6.png"/><Relationship Id="rId16" Type="http://schemas.openxmlformats.org/officeDocument/2006/relationships/image" Target="../media/image26.sv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Скругленный прямоугольник 15"/>
          <p:cNvSpPr/>
          <p:nvPr/>
        </p:nvSpPr>
        <p:spPr>
          <a:xfrm>
            <a:off x="4935116" y="6192883"/>
            <a:ext cx="2321767" cy="515388"/>
          </a:xfrm>
          <a:prstGeom prst="roundRect">
            <a:avLst/>
          </a:prstGeom>
          <a:solidFill>
            <a:srgbClr val="2E8B5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Скругленный прямоугольник 14"/>
          <p:cNvSpPr/>
          <p:nvPr/>
        </p:nvSpPr>
        <p:spPr>
          <a:xfrm>
            <a:off x="838200" y="4822872"/>
            <a:ext cx="10515600" cy="989013"/>
          </a:xfrm>
          <a:prstGeom prst="roundRect">
            <a:avLst/>
          </a:prstGeom>
          <a:solidFill>
            <a:srgbClr val="98FB98"/>
          </a:solidFill>
          <a:ln w="15875">
            <a:solidFill>
              <a:srgbClr val="2E8B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Скругленный прямоугольник 13"/>
          <p:cNvSpPr/>
          <p:nvPr/>
        </p:nvSpPr>
        <p:spPr>
          <a:xfrm>
            <a:off x="838200" y="2641874"/>
            <a:ext cx="10515600" cy="1800000"/>
          </a:xfrm>
          <a:prstGeom prst="roundRect">
            <a:avLst/>
          </a:prstGeom>
          <a:solidFill>
            <a:srgbClr val="98FB98"/>
          </a:solidFill>
          <a:ln w="15875">
            <a:solidFill>
              <a:srgbClr val="2E8B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Скругленный прямоугольник 12"/>
          <p:cNvSpPr/>
          <p:nvPr/>
        </p:nvSpPr>
        <p:spPr>
          <a:xfrm>
            <a:off x="838200" y="365124"/>
            <a:ext cx="10515600" cy="2065433"/>
          </a:xfrm>
          <a:prstGeom prst="roundRect">
            <a:avLst/>
          </a:prstGeom>
          <a:solidFill>
            <a:srgbClr val="2E8B5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Заголовок 5"/>
          <p:cNvSpPr>
            <a:spLocks noGrp="1"/>
          </p:cNvSpPr>
          <p:nvPr>
            <p:ph type="ctrTitle"/>
          </p:nvPr>
        </p:nvSpPr>
        <p:spPr>
          <a:xfrm>
            <a:off x="0" y="3049636"/>
            <a:ext cx="12192000" cy="1011238"/>
          </a:xfrm>
        </p:spPr>
        <p:txBody>
          <a:bodyPr>
            <a:noAutofit/>
          </a:bodyPr>
          <a:lstStyle/>
          <a:p>
            <a:r>
              <a:rPr lang="ru-RU" sz="3200" dirty="0" smtClean="0">
                <a:latin typeface="+mn-lt"/>
                <a:cs typeface="Times New Roman" panose="02020603050405020304" pitchFamily="18" charset="0"/>
              </a:rPr>
              <a:t>КУРСОВОЙ ПРОЕКТ</a:t>
            </a:r>
            <a:br>
              <a:rPr lang="ru-RU" sz="3200" dirty="0" smtClean="0">
                <a:latin typeface="+mn-lt"/>
                <a:cs typeface="Times New Roman" panose="02020603050405020304" pitchFamily="18" charset="0"/>
              </a:rPr>
            </a:br>
            <a:r>
              <a:rPr lang="ru-RU" sz="3200" dirty="0" smtClean="0">
                <a:latin typeface="+mn-lt"/>
                <a:cs typeface="Times New Roman" panose="02020603050405020304" pitchFamily="18" charset="0"/>
              </a:rPr>
              <a:t>РАЗРАБОТКА ПОДСИСТЕМЫ УЧЕТА ЛЕСНЫХ УЧАСТКОВ</a:t>
            </a:r>
            <a:endParaRPr lang="ru-RU" sz="3200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7" name="Подзаголовок 6"/>
          <p:cNvSpPr>
            <a:spLocks noGrp="1"/>
          </p:cNvSpPr>
          <p:nvPr>
            <p:ph type="subTitle" idx="1"/>
          </p:nvPr>
        </p:nvSpPr>
        <p:spPr>
          <a:xfrm>
            <a:off x="2209800" y="4876573"/>
            <a:ext cx="8609176" cy="989012"/>
          </a:xfrm>
        </p:spPr>
        <p:txBody>
          <a:bodyPr>
            <a:normAutofit/>
          </a:bodyPr>
          <a:lstStyle/>
          <a:p>
            <a:pPr algn="r"/>
            <a:r>
              <a:rPr lang="ru-RU" dirty="0" smtClean="0"/>
              <a:t>Студент группы ИСПП-21: Дружинин Денис Альбертович</a:t>
            </a:r>
          </a:p>
          <a:p>
            <a:pPr algn="r"/>
            <a:r>
              <a:rPr lang="ru-RU" dirty="0" smtClean="0"/>
              <a:t>Руководитель: Маломан Юлия Сергеевна</a:t>
            </a:r>
            <a:endParaRPr lang="ru-RU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3048000" y="399233"/>
            <a:ext cx="6096000" cy="2031325"/>
          </a:xfrm>
          <a:prstGeom prst="rect">
            <a:avLst/>
          </a:prstGeom>
          <a:solidFill>
            <a:srgbClr val="2E8B56"/>
          </a:solidFill>
        </p:spPr>
        <p:txBody>
          <a:bodyPr>
            <a:spAutoFit/>
          </a:bodyPr>
          <a:lstStyle/>
          <a:p>
            <a:pPr algn="ctr"/>
            <a:r>
              <a:rPr lang="ru-RU" sz="1400" b="1" dirty="0" smtClean="0">
                <a:solidFill>
                  <a:schemeClr val="bg1"/>
                </a:solidFill>
              </a:rPr>
              <a:t>ФЕДЕРАЛЬНОЕ ГОСУДАРСТВЕННОЕ БЮДЖЕТНОЕ ОБРАЗОВАТЕЛЬНОЕ</a:t>
            </a:r>
            <a:endParaRPr lang="en-US" sz="1400" b="1" dirty="0" smtClean="0">
              <a:solidFill>
                <a:schemeClr val="bg1"/>
              </a:solidFill>
            </a:endParaRPr>
          </a:p>
          <a:p>
            <a:pPr algn="ctr"/>
            <a:r>
              <a:rPr lang="ru-RU" sz="1400" b="1" dirty="0" smtClean="0">
                <a:solidFill>
                  <a:schemeClr val="bg1"/>
                </a:solidFill>
              </a:rPr>
              <a:t> УЧРЕЖДЕНИЕ ВЫСШЕГО ОБРАЗОВАНИЯ </a:t>
            </a:r>
            <a:endParaRPr lang="en-US" sz="1400" b="1" dirty="0" smtClean="0">
              <a:solidFill>
                <a:schemeClr val="bg1"/>
              </a:solidFill>
            </a:endParaRPr>
          </a:p>
          <a:p>
            <a:pPr algn="ctr"/>
            <a:r>
              <a:rPr lang="ru-RU" sz="1400" b="1" dirty="0" smtClean="0">
                <a:solidFill>
                  <a:schemeClr val="bg1"/>
                </a:solidFill>
              </a:rPr>
              <a:t>«САНКТ-ПЕТЕРБУРГСКИЙ ГОСУДАРСТВЕННЫЙ УНИВЕРСИТЕТ ТЕЛЕКОММУНИКАЦИЙ ИМ. ПРОФ. М.А. БОНЧ-БРУЕВИЧА» </a:t>
            </a:r>
            <a:endParaRPr lang="en-US" sz="1400" b="1" dirty="0">
              <a:solidFill>
                <a:schemeClr val="bg1"/>
              </a:solidFill>
            </a:endParaRPr>
          </a:p>
          <a:p>
            <a:pPr algn="ctr"/>
            <a:r>
              <a:rPr lang="ru-RU" sz="1400" b="1" dirty="0" smtClean="0">
                <a:solidFill>
                  <a:schemeClr val="bg1"/>
                </a:solidFill>
              </a:rPr>
              <a:t>(СПбГУТ) </a:t>
            </a:r>
            <a:endParaRPr lang="en-US" sz="1400" b="1" dirty="0" smtClean="0">
              <a:solidFill>
                <a:schemeClr val="bg1"/>
              </a:solidFill>
            </a:endParaRPr>
          </a:p>
          <a:p>
            <a:pPr algn="ctr"/>
            <a:endParaRPr lang="en-US" sz="1400" b="1" dirty="0" smtClean="0">
              <a:solidFill>
                <a:schemeClr val="bg1"/>
              </a:solidFill>
            </a:endParaRPr>
          </a:p>
          <a:p>
            <a:pPr algn="ctr"/>
            <a:r>
              <a:rPr lang="ru-RU" sz="1400" b="1" dirty="0" smtClean="0">
                <a:solidFill>
                  <a:schemeClr val="bg1"/>
                </a:solidFill>
              </a:rPr>
              <a:t>АРХАНГЕЛЬСКИЙ КОЛЛЕДЖ ТЕЛЕКОММУНИКАЦИЙ</a:t>
            </a:r>
            <a:endParaRPr lang="en-US" sz="1400" b="1" dirty="0" smtClean="0">
              <a:solidFill>
                <a:schemeClr val="bg1"/>
              </a:solidFill>
            </a:endParaRPr>
          </a:p>
          <a:p>
            <a:pPr algn="ctr"/>
            <a:r>
              <a:rPr lang="ru-RU" sz="1400" b="1" dirty="0" smtClean="0">
                <a:solidFill>
                  <a:schemeClr val="bg1"/>
                </a:solidFill>
              </a:rPr>
              <a:t> ИМ. Б.Л. РОЗИНГА</a:t>
            </a:r>
            <a:r>
              <a:rPr lang="en-US" sz="1400" b="1" dirty="0" smtClean="0">
                <a:solidFill>
                  <a:schemeClr val="bg1"/>
                </a:solidFill>
              </a:rPr>
              <a:t> </a:t>
            </a:r>
            <a:r>
              <a:rPr lang="ru-RU" sz="1400" b="1" dirty="0" smtClean="0">
                <a:solidFill>
                  <a:schemeClr val="bg1"/>
                </a:solidFill>
              </a:rPr>
              <a:t>(ФИЛИАЛ) СПбГУТ </a:t>
            </a:r>
            <a:endParaRPr lang="en-US" sz="1400" b="1" dirty="0" smtClean="0">
              <a:solidFill>
                <a:schemeClr val="bg1"/>
              </a:solidFill>
            </a:endParaRPr>
          </a:p>
          <a:p>
            <a:pPr algn="ctr"/>
            <a:r>
              <a:rPr lang="ru-RU" sz="1400" b="1" dirty="0" smtClean="0">
                <a:solidFill>
                  <a:schemeClr val="bg1"/>
                </a:solidFill>
              </a:rPr>
              <a:t>(АКТ (ф) СПбГУТ)</a:t>
            </a:r>
            <a:endParaRPr lang="ru-RU" sz="1400" b="1" dirty="0">
              <a:solidFill>
                <a:schemeClr val="bg1"/>
              </a:solidFill>
            </a:endParaRPr>
          </a:p>
        </p:txBody>
      </p:sp>
      <p:sp>
        <p:nvSpPr>
          <p:cNvPr id="11" name="Подзаголовок 6"/>
          <p:cNvSpPr txBox="1">
            <a:spLocks/>
          </p:cNvSpPr>
          <p:nvPr/>
        </p:nvSpPr>
        <p:spPr>
          <a:xfrm>
            <a:off x="4714875" y="6303019"/>
            <a:ext cx="2762250" cy="4270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800" dirty="0" smtClean="0">
                <a:solidFill>
                  <a:schemeClr val="bg1"/>
                </a:solidFill>
              </a:rPr>
              <a:t>Архангельск, 2025</a:t>
            </a:r>
            <a:endParaRPr lang="ru-RU" sz="1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7357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Скругленный прямоугольник 9"/>
          <p:cNvSpPr/>
          <p:nvPr/>
        </p:nvSpPr>
        <p:spPr>
          <a:xfrm>
            <a:off x="838200" y="2060575"/>
            <a:ext cx="5257800" cy="1800000"/>
          </a:xfrm>
          <a:prstGeom prst="roundRect">
            <a:avLst/>
          </a:prstGeom>
          <a:solidFill>
            <a:srgbClr val="98FB98"/>
          </a:solidFill>
          <a:ln w="15875">
            <a:solidFill>
              <a:srgbClr val="2E8B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838200" y="365125"/>
            <a:ext cx="10515600" cy="1325563"/>
          </a:xfrm>
          <a:prstGeom prst="roundRect">
            <a:avLst/>
          </a:prstGeom>
          <a:solidFill>
            <a:srgbClr val="2E8B5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solidFill>
                  <a:schemeClr val="bg1"/>
                </a:solidFill>
              </a:rPr>
              <a:t> Актуальность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2340314"/>
            <a:ext cx="5257800" cy="1386911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ru-RU" dirty="0" smtClean="0"/>
              <a:t>Упрощение процесса ведения учета информации о лесных участках</a:t>
            </a:r>
            <a:endParaRPr lang="ru-RU" dirty="0"/>
          </a:p>
        </p:txBody>
      </p:sp>
      <p:sp>
        <p:nvSpPr>
          <p:cNvPr id="8" name="Скругленный прямоугольник 7"/>
          <p:cNvSpPr/>
          <p:nvPr/>
        </p:nvSpPr>
        <p:spPr>
          <a:xfrm>
            <a:off x="10453800" y="5743575"/>
            <a:ext cx="900000" cy="900000"/>
          </a:xfrm>
          <a:prstGeom prst="roundRect">
            <a:avLst/>
          </a:prstGeom>
          <a:solidFill>
            <a:srgbClr val="2E8B5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dirty="0" smtClean="0"/>
              <a:t>2</a:t>
            </a:r>
            <a:r>
              <a:rPr lang="en-US" sz="2800" dirty="0" smtClean="0"/>
              <a:t>/9</a:t>
            </a:r>
            <a:endParaRPr lang="ru-RU" sz="2800" dirty="0"/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3800" y="2095599"/>
            <a:ext cx="3600000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7389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Скругленный прямоугольник 9"/>
          <p:cNvSpPr/>
          <p:nvPr/>
        </p:nvSpPr>
        <p:spPr>
          <a:xfrm>
            <a:off x="1984164" y="2060575"/>
            <a:ext cx="2520000" cy="2520000"/>
          </a:xfrm>
          <a:prstGeom prst="roundRect">
            <a:avLst/>
          </a:prstGeom>
          <a:solidFill>
            <a:srgbClr val="98FB98"/>
          </a:solidFill>
          <a:ln w="15875">
            <a:solidFill>
              <a:srgbClr val="2E8B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838200" y="365125"/>
            <a:ext cx="10515600" cy="1325563"/>
          </a:xfrm>
          <a:prstGeom prst="roundRect">
            <a:avLst/>
          </a:prstGeom>
          <a:solidFill>
            <a:srgbClr val="2E8B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solidFill>
                  <a:schemeClr val="bg1"/>
                </a:solidFill>
              </a:rPr>
              <a:t> Целевая аудитория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082114" y="3760075"/>
            <a:ext cx="2324100" cy="435450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ru-RU" sz="2400" dirty="0" smtClean="0"/>
              <a:t>Лесничества</a:t>
            </a:r>
            <a:endParaRPr lang="ru-RU" dirty="0"/>
          </a:p>
        </p:txBody>
      </p:sp>
      <p:sp>
        <p:nvSpPr>
          <p:cNvPr id="8" name="Скругленный прямоугольник 7"/>
          <p:cNvSpPr/>
          <p:nvPr/>
        </p:nvSpPr>
        <p:spPr>
          <a:xfrm>
            <a:off x="10453800" y="5743575"/>
            <a:ext cx="900000" cy="900000"/>
          </a:xfrm>
          <a:prstGeom prst="roundRect">
            <a:avLst/>
          </a:prstGeom>
          <a:solidFill>
            <a:srgbClr val="2E8B5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dirty="0"/>
              <a:t>3</a:t>
            </a:r>
            <a:r>
              <a:rPr lang="en-US" sz="2800" dirty="0" smtClean="0"/>
              <a:t>/9</a:t>
            </a:r>
            <a:endParaRPr lang="ru-RU" sz="2800" dirty="0"/>
          </a:p>
        </p:txBody>
      </p:sp>
      <p:sp>
        <p:nvSpPr>
          <p:cNvPr id="7" name="Скругленный прямоугольник 6"/>
          <p:cNvSpPr/>
          <p:nvPr/>
        </p:nvSpPr>
        <p:spPr>
          <a:xfrm>
            <a:off x="4910645" y="2060575"/>
            <a:ext cx="2520000" cy="2520000"/>
          </a:xfrm>
          <a:prstGeom prst="roundRect">
            <a:avLst/>
          </a:prstGeom>
          <a:solidFill>
            <a:srgbClr val="98FB98"/>
          </a:solidFill>
          <a:ln w="15875">
            <a:solidFill>
              <a:srgbClr val="2E8B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Объект 2"/>
          <p:cNvSpPr txBox="1">
            <a:spLocks/>
          </p:cNvSpPr>
          <p:nvPr/>
        </p:nvSpPr>
        <p:spPr>
          <a:xfrm>
            <a:off x="5013357" y="3760075"/>
            <a:ext cx="2314575" cy="4354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ru-RU" sz="2400" dirty="0" smtClean="0"/>
              <a:t>Работники лесничеств</a:t>
            </a:r>
          </a:p>
        </p:txBody>
      </p:sp>
      <p:sp>
        <p:nvSpPr>
          <p:cNvPr id="15" name="Скругленный прямоугольник 14"/>
          <p:cNvSpPr/>
          <p:nvPr/>
        </p:nvSpPr>
        <p:spPr>
          <a:xfrm>
            <a:off x="7837126" y="2060575"/>
            <a:ext cx="2520000" cy="2520000"/>
          </a:xfrm>
          <a:prstGeom prst="roundRect">
            <a:avLst/>
          </a:prstGeom>
          <a:solidFill>
            <a:srgbClr val="98FB98"/>
          </a:solidFill>
          <a:ln w="15875">
            <a:solidFill>
              <a:srgbClr val="2E8B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Объект 2"/>
          <p:cNvSpPr txBox="1">
            <a:spLocks/>
          </p:cNvSpPr>
          <p:nvPr/>
        </p:nvSpPr>
        <p:spPr>
          <a:xfrm>
            <a:off x="7828445" y="3760075"/>
            <a:ext cx="2520000" cy="4354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ru-RU" sz="2400" dirty="0" smtClean="0"/>
              <a:t>Администраторысистемы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4164" y="2183632"/>
            <a:ext cx="1620000" cy="1620000"/>
          </a:xfrm>
          <a:prstGeom prst="rect">
            <a:avLst/>
          </a:prstGeom>
        </p:spPr>
      </p:pic>
      <p:pic>
        <p:nvPicPr>
          <p:cNvPr id="17" name="Рисунок 1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2786" y="2140075"/>
            <a:ext cx="1620000" cy="1620000"/>
          </a:xfrm>
          <a:prstGeom prst="rect">
            <a:avLst/>
          </a:prstGeom>
        </p:spPr>
      </p:pic>
      <p:pic>
        <p:nvPicPr>
          <p:cNvPr id="18" name="Рисунок 1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2445" y="2140075"/>
            <a:ext cx="1692000" cy="16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1866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Скругленный прямоугольник 9"/>
          <p:cNvSpPr/>
          <p:nvPr/>
        </p:nvSpPr>
        <p:spPr>
          <a:xfrm>
            <a:off x="838200" y="2060575"/>
            <a:ext cx="6570306" cy="1853399"/>
          </a:xfrm>
          <a:prstGeom prst="roundRect">
            <a:avLst/>
          </a:prstGeom>
          <a:solidFill>
            <a:srgbClr val="98FB98"/>
          </a:solidFill>
          <a:ln w="15875">
            <a:solidFill>
              <a:srgbClr val="2E8B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838200" y="365125"/>
            <a:ext cx="10515600" cy="1325563"/>
          </a:xfrm>
          <a:prstGeom prst="roundRect">
            <a:avLst/>
          </a:prstGeom>
          <a:solidFill>
            <a:srgbClr val="2E8B5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solidFill>
                  <a:schemeClr val="bg1"/>
                </a:solidFill>
              </a:rPr>
              <a:t> Цель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1" y="2179638"/>
            <a:ext cx="6570306" cy="1249362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ru-RU" dirty="0" smtClean="0"/>
              <a:t>Разработка подсистемы</a:t>
            </a:r>
            <a:r>
              <a:rPr lang="ru-RU" dirty="0"/>
              <a:t> </a:t>
            </a:r>
            <a:r>
              <a:rPr lang="ru-RU" dirty="0"/>
              <a:t> </a:t>
            </a:r>
            <a:r>
              <a:rPr lang="ru-RU" dirty="0" smtClean="0"/>
              <a:t>                          </a:t>
            </a:r>
            <a:r>
              <a:rPr lang="ru-RU" dirty="0" smtClean="0"/>
              <a:t>для </a:t>
            </a:r>
            <a:r>
              <a:rPr lang="ru-RU" dirty="0"/>
              <a:t>ведения учета информации о лесных участках </a:t>
            </a:r>
            <a:r>
              <a:rPr lang="ru-RU" dirty="0" smtClean="0"/>
              <a:t>и </a:t>
            </a:r>
            <a:r>
              <a:rPr lang="ru-RU" dirty="0"/>
              <a:t>проводимых на </a:t>
            </a:r>
            <a:r>
              <a:rPr lang="ru-RU" dirty="0" smtClean="0"/>
              <a:t>них</a:t>
            </a:r>
            <a:r>
              <a:rPr lang="en-US" dirty="0" smtClean="0"/>
              <a:t> </a:t>
            </a:r>
            <a:r>
              <a:rPr lang="ru-RU" dirty="0" smtClean="0"/>
              <a:t>мероприятиях</a:t>
            </a:r>
            <a:endParaRPr lang="ru-RU" dirty="0"/>
          </a:p>
        </p:txBody>
      </p:sp>
      <p:sp>
        <p:nvSpPr>
          <p:cNvPr id="8" name="Скругленный прямоугольник 7"/>
          <p:cNvSpPr/>
          <p:nvPr/>
        </p:nvSpPr>
        <p:spPr>
          <a:xfrm>
            <a:off x="10453800" y="5743575"/>
            <a:ext cx="900000" cy="900000"/>
          </a:xfrm>
          <a:prstGeom prst="roundRect">
            <a:avLst/>
          </a:prstGeom>
          <a:solidFill>
            <a:srgbClr val="2E8B5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dirty="0" smtClean="0"/>
              <a:t>4</a:t>
            </a:r>
            <a:r>
              <a:rPr lang="en-US" sz="2800" dirty="0" smtClean="0"/>
              <a:t>/9</a:t>
            </a:r>
            <a:endParaRPr lang="ru-RU" sz="28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3800" y="2060575"/>
            <a:ext cx="3600000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5921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Скругленный прямоугольник 9"/>
          <p:cNvSpPr/>
          <p:nvPr/>
        </p:nvSpPr>
        <p:spPr>
          <a:xfrm>
            <a:off x="838200" y="2066925"/>
            <a:ext cx="5167087" cy="857250"/>
          </a:xfrm>
          <a:prstGeom prst="roundRect">
            <a:avLst/>
          </a:prstGeom>
          <a:solidFill>
            <a:srgbClr val="98FB98"/>
          </a:solidFill>
          <a:ln w="15875">
            <a:solidFill>
              <a:srgbClr val="2E8B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838200" y="365125"/>
            <a:ext cx="10515600" cy="1325563"/>
          </a:xfrm>
          <a:prstGeom prst="roundRect">
            <a:avLst/>
          </a:prstGeom>
          <a:solidFill>
            <a:srgbClr val="2E8B5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solidFill>
                  <a:schemeClr val="bg1"/>
                </a:solidFill>
              </a:rPr>
              <a:t> Задачи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18937" y="2085975"/>
            <a:ext cx="5091338" cy="771525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ru-RU" dirty="0" smtClean="0"/>
              <a:t> Собрать и проанализировать </a:t>
            </a:r>
            <a:br>
              <a:rPr lang="ru-RU" dirty="0" smtClean="0"/>
            </a:br>
            <a:r>
              <a:rPr lang="ru-RU" dirty="0" smtClean="0"/>
              <a:t>требования целевой аудитории</a:t>
            </a:r>
            <a:endParaRPr lang="ru-RU" dirty="0"/>
          </a:p>
        </p:txBody>
      </p:sp>
      <p:sp>
        <p:nvSpPr>
          <p:cNvPr id="8" name="Скругленный прямоугольник 7"/>
          <p:cNvSpPr/>
          <p:nvPr/>
        </p:nvSpPr>
        <p:spPr>
          <a:xfrm>
            <a:off x="10453800" y="5743575"/>
            <a:ext cx="900000" cy="900000"/>
          </a:xfrm>
          <a:prstGeom prst="roundRect">
            <a:avLst/>
          </a:prstGeom>
          <a:solidFill>
            <a:srgbClr val="2E8B5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dirty="0" smtClean="0"/>
              <a:t>5</a:t>
            </a:r>
            <a:r>
              <a:rPr lang="en-US" sz="2800" dirty="0" smtClean="0"/>
              <a:t>/9</a:t>
            </a:r>
            <a:endParaRPr lang="ru-RU" sz="2800" dirty="0"/>
          </a:p>
        </p:txBody>
      </p:sp>
      <p:sp>
        <p:nvSpPr>
          <p:cNvPr id="12" name="Скругленный прямоугольник 11"/>
          <p:cNvSpPr/>
          <p:nvPr/>
        </p:nvSpPr>
        <p:spPr>
          <a:xfrm>
            <a:off x="6191701" y="2071594"/>
            <a:ext cx="5167087" cy="857250"/>
          </a:xfrm>
          <a:prstGeom prst="roundRect">
            <a:avLst/>
          </a:prstGeom>
          <a:solidFill>
            <a:srgbClr val="98FB98"/>
          </a:solidFill>
          <a:ln w="15875">
            <a:solidFill>
              <a:srgbClr val="2E8B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Объект 2"/>
          <p:cNvSpPr txBox="1">
            <a:spLocks/>
          </p:cNvSpPr>
          <p:nvPr/>
        </p:nvSpPr>
        <p:spPr>
          <a:xfrm>
            <a:off x="6272438" y="2090644"/>
            <a:ext cx="5091338" cy="7715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ru-RU" dirty="0" smtClean="0"/>
              <a:t>Разработать интерфейс и функциональность ПО</a:t>
            </a:r>
            <a:endParaRPr lang="ru-RU" dirty="0"/>
          </a:p>
        </p:txBody>
      </p:sp>
      <p:sp>
        <p:nvSpPr>
          <p:cNvPr id="14" name="Скругленный прямоугольник 13"/>
          <p:cNvSpPr/>
          <p:nvPr/>
        </p:nvSpPr>
        <p:spPr>
          <a:xfrm>
            <a:off x="838200" y="3247342"/>
            <a:ext cx="5167087" cy="857250"/>
          </a:xfrm>
          <a:prstGeom prst="roundRect">
            <a:avLst/>
          </a:prstGeom>
          <a:solidFill>
            <a:srgbClr val="98FB98"/>
          </a:solidFill>
          <a:ln w="15875">
            <a:solidFill>
              <a:srgbClr val="2E8B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Объект 2"/>
          <p:cNvSpPr txBox="1">
            <a:spLocks/>
          </p:cNvSpPr>
          <p:nvPr/>
        </p:nvSpPr>
        <p:spPr>
          <a:xfrm>
            <a:off x="918937" y="3266392"/>
            <a:ext cx="5091338" cy="7715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ru-RU" dirty="0" smtClean="0"/>
              <a:t>Спроектировать клиентскую и серверную часть ПО</a:t>
            </a:r>
          </a:p>
        </p:txBody>
      </p:sp>
      <p:sp>
        <p:nvSpPr>
          <p:cNvPr id="18" name="Скругленный прямоугольник 17"/>
          <p:cNvSpPr/>
          <p:nvPr/>
        </p:nvSpPr>
        <p:spPr>
          <a:xfrm>
            <a:off x="838200" y="4399773"/>
            <a:ext cx="5167087" cy="857250"/>
          </a:xfrm>
          <a:prstGeom prst="roundRect">
            <a:avLst/>
          </a:prstGeom>
          <a:solidFill>
            <a:srgbClr val="98FB98"/>
          </a:solidFill>
          <a:ln w="15875">
            <a:solidFill>
              <a:srgbClr val="2E8B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Объект 2"/>
          <p:cNvSpPr txBox="1">
            <a:spLocks/>
          </p:cNvSpPr>
          <p:nvPr/>
        </p:nvSpPr>
        <p:spPr>
          <a:xfrm>
            <a:off x="918937" y="4418823"/>
            <a:ext cx="5091338" cy="7715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ru-RU" dirty="0" smtClean="0"/>
              <a:t>Разработать структуры базы данных</a:t>
            </a:r>
            <a:endParaRPr lang="ru-RU" dirty="0"/>
          </a:p>
        </p:txBody>
      </p:sp>
      <p:sp>
        <p:nvSpPr>
          <p:cNvPr id="22" name="Скругленный прямоугольник 21"/>
          <p:cNvSpPr/>
          <p:nvPr/>
        </p:nvSpPr>
        <p:spPr>
          <a:xfrm>
            <a:off x="6181725" y="3247342"/>
            <a:ext cx="5167087" cy="857250"/>
          </a:xfrm>
          <a:prstGeom prst="roundRect">
            <a:avLst/>
          </a:prstGeom>
          <a:solidFill>
            <a:srgbClr val="98FB98"/>
          </a:solidFill>
          <a:ln w="15875">
            <a:solidFill>
              <a:srgbClr val="2E8B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Объект 2"/>
          <p:cNvSpPr txBox="1">
            <a:spLocks/>
          </p:cNvSpPr>
          <p:nvPr/>
        </p:nvSpPr>
        <p:spPr>
          <a:xfrm>
            <a:off x="6186713" y="3290204"/>
            <a:ext cx="5091338" cy="7715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dirty="0" smtClean="0"/>
              <a:t>Тестирование модулей подсистемы </a:t>
            </a:r>
            <a:endParaRPr lang="ru-RU" dirty="0"/>
          </a:p>
        </p:txBody>
      </p:sp>
      <p:sp>
        <p:nvSpPr>
          <p:cNvPr id="24" name="Скругленный прямоугольник 23"/>
          <p:cNvSpPr/>
          <p:nvPr/>
        </p:nvSpPr>
        <p:spPr>
          <a:xfrm>
            <a:off x="6176737" y="4399773"/>
            <a:ext cx="5167087" cy="857250"/>
          </a:xfrm>
          <a:prstGeom prst="roundRect">
            <a:avLst/>
          </a:prstGeom>
          <a:solidFill>
            <a:srgbClr val="98FB98"/>
          </a:solidFill>
          <a:ln w="15875">
            <a:solidFill>
              <a:srgbClr val="2E8B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Объект 2"/>
          <p:cNvSpPr txBox="1">
            <a:spLocks/>
          </p:cNvSpPr>
          <p:nvPr/>
        </p:nvSpPr>
        <p:spPr>
          <a:xfrm>
            <a:off x="6257474" y="4418823"/>
            <a:ext cx="5091338" cy="7715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ru-RU" dirty="0" smtClean="0"/>
              <a:t>Написать сопроводительную документацию к ПО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12671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Скругленный прямоугольник 5"/>
          <p:cNvSpPr/>
          <p:nvPr/>
        </p:nvSpPr>
        <p:spPr>
          <a:xfrm>
            <a:off x="838200" y="365125"/>
            <a:ext cx="10515600" cy="1325563"/>
          </a:xfrm>
          <a:prstGeom prst="roundRect">
            <a:avLst/>
          </a:prstGeom>
          <a:solidFill>
            <a:srgbClr val="2E8B5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solidFill>
                  <a:schemeClr val="bg1"/>
                </a:solidFill>
              </a:rPr>
              <a:t> Средства разработки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8" name="Скругленный прямоугольник 7"/>
          <p:cNvSpPr/>
          <p:nvPr/>
        </p:nvSpPr>
        <p:spPr>
          <a:xfrm>
            <a:off x="10453800" y="5743575"/>
            <a:ext cx="900000" cy="900000"/>
          </a:xfrm>
          <a:prstGeom prst="roundRect">
            <a:avLst/>
          </a:prstGeom>
          <a:solidFill>
            <a:srgbClr val="2E8B5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dirty="0" smtClean="0"/>
              <a:t>6</a:t>
            </a:r>
            <a:r>
              <a:rPr lang="en-US" sz="2800" dirty="0" smtClean="0"/>
              <a:t>/9</a:t>
            </a:r>
            <a:endParaRPr lang="ru-RU" sz="2800" dirty="0"/>
          </a:p>
        </p:txBody>
      </p:sp>
      <p:sp>
        <p:nvSpPr>
          <p:cNvPr id="16" name="Скругленный прямоугольник 15"/>
          <p:cNvSpPr/>
          <p:nvPr/>
        </p:nvSpPr>
        <p:spPr>
          <a:xfrm>
            <a:off x="1909519" y="2060574"/>
            <a:ext cx="2520000" cy="2735545"/>
          </a:xfrm>
          <a:prstGeom prst="roundRect">
            <a:avLst/>
          </a:prstGeom>
          <a:solidFill>
            <a:srgbClr val="98FB98"/>
          </a:solidFill>
          <a:ln w="15875">
            <a:solidFill>
              <a:srgbClr val="2E8B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7" name="Объект 2"/>
          <p:cNvSpPr>
            <a:spLocks noGrp="1"/>
          </p:cNvSpPr>
          <p:nvPr>
            <p:ph idx="1"/>
          </p:nvPr>
        </p:nvSpPr>
        <p:spPr>
          <a:xfrm>
            <a:off x="1909519" y="2131403"/>
            <a:ext cx="2520000" cy="435450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ru-RU" sz="2400" dirty="0" smtClean="0"/>
              <a:t>База данных</a:t>
            </a:r>
            <a:endParaRPr lang="ru-RU" dirty="0"/>
          </a:p>
        </p:txBody>
      </p:sp>
      <p:sp>
        <p:nvSpPr>
          <p:cNvPr id="18" name="Скругленный прямоугольник 17"/>
          <p:cNvSpPr/>
          <p:nvPr/>
        </p:nvSpPr>
        <p:spPr>
          <a:xfrm>
            <a:off x="4836000" y="2060575"/>
            <a:ext cx="2520000" cy="2735544"/>
          </a:xfrm>
          <a:prstGeom prst="roundRect">
            <a:avLst/>
          </a:prstGeom>
          <a:solidFill>
            <a:srgbClr val="98FB98"/>
          </a:solidFill>
          <a:ln w="15875">
            <a:solidFill>
              <a:srgbClr val="2E8B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Объект 2"/>
          <p:cNvSpPr txBox="1">
            <a:spLocks/>
          </p:cNvSpPr>
          <p:nvPr/>
        </p:nvSpPr>
        <p:spPr>
          <a:xfrm>
            <a:off x="4803343" y="2131403"/>
            <a:ext cx="2454686" cy="4354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dirty="0" smtClean="0"/>
              <a:t>WebAPI</a:t>
            </a:r>
            <a:endParaRPr lang="ru-RU" sz="2400" dirty="0" smtClean="0"/>
          </a:p>
        </p:txBody>
      </p:sp>
      <p:sp>
        <p:nvSpPr>
          <p:cNvPr id="20" name="Скругленный прямоугольник 19"/>
          <p:cNvSpPr/>
          <p:nvPr/>
        </p:nvSpPr>
        <p:spPr>
          <a:xfrm>
            <a:off x="7762481" y="2060575"/>
            <a:ext cx="2520000" cy="2735544"/>
          </a:xfrm>
          <a:prstGeom prst="roundRect">
            <a:avLst/>
          </a:prstGeom>
          <a:solidFill>
            <a:srgbClr val="98FB98"/>
          </a:solidFill>
          <a:ln w="15875">
            <a:solidFill>
              <a:srgbClr val="2E8B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Объект 2"/>
          <p:cNvSpPr txBox="1">
            <a:spLocks/>
          </p:cNvSpPr>
          <p:nvPr/>
        </p:nvSpPr>
        <p:spPr>
          <a:xfrm>
            <a:off x="7762481" y="2131403"/>
            <a:ext cx="2520000" cy="4354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dirty="0" smtClean="0"/>
              <a:t>Frontend</a:t>
            </a:r>
            <a:endParaRPr lang="ru-RU" sz="2400" dirty="0" smtClean="0"/>
          </a:p>
        </p:txBody>
      </p:sp>
      <p:sp>
        <p:nvSpPr>
          <p:cNvPr id="5" name="TextBox 4"/>
          <p:cNvSpPr txBox="1"/>
          <p:nvPr/>
        </p:nvSpPr>
        <p:spPr>
          <a:xfrm>
            <a:off x="1934453" y="3702568"/>
            <a:ext cx="25033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Microsoft SQL </a:t>
            </a:r>
            <a:r>
              <a:rPr lang="en-US" sz="2000" dirty="0" smtClean="0"/>
              <a:t>Server</a:t>
            </a:r>
            <a:endParaRPr lang="ru-RU" dirty="0"/>
          </a:p>
        </p:txBody>
      </p:sp>
      <p:sp>
        <p:nvSpPr>
          <p:cNvPr id="25" name="TextBox 24"/>
          <p:cNvSpPr txBox="1"/>
          <p:nvPr/>
        </p:nvSpPr>
        <p:spPr>
          <a:xfrm>
            <a:off x="1926142" y="4118857"/>
            <a:ext cx="2520001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SQL </a:t>
            </a:r>
            <a:r>
              <a:rPr lang="en-US" sz="2000" dirty="0" smtClean="0"/>
              <a:t>Server</a:t>
            </a:r>
            <a:r>
              <a:rPr lang="en-US" dirty="0" smtClean="0"/>
              <a:t> Manager Studio 2022</a:t>
            </a:r>
            <a:endParaRPr lang="ru-RU" dirty="0"/>
          </a:p>
        </p:txBody>
      </p:sp>
      <p:pic>
        <p:nvPicPr>
          <p:cNvPr id="26" name="Picture 30">
            <a:extLst>
              <a:ext uri="{FF2B5EF4-FFF2-40B4-BE49-F238E27FC236}">
                <a16:creationId xmlns:a16="http://schemas.microsoft.com/office/drawing/2014/main" id="{793F3BB0-07CE-CCE9-EAFE-6988999AA4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0020" y="2475815"/>
            <a:ext cx="1080000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F8F6AFAB-8690-7443-E42D-BC76C4EADA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16"/>
              </a:ext>
            </a:extLst>
          </a:blip>
          <a:srcRect l="-9144" t="-3130" r="-6877" b="-1"/>
          <a:stretch>
            <a:fillRect/>
          </a:stretch>
        </p:blipFill>
        <p:spPr>
          <a:xfrm>
            <a:off x="6112895" y="2493714"/>
            <a:ext cx="1080002" cy="1080000"/>
          </a:xfrm>
          <a:prstGeom prst="rect">
            <a:avLst/>
          </a:prstGeom>
        </p:spPr>
      </p:pic>
      <p:pic>
        <p:nvPicPr>
          <p:cNvPr id="28" name="Рисунок 27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0456" y="3787061"/>
            <a:ext cx="0" cy="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793F3BB0-07CE-CCE9-EAFE-6988999AA4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8695" y="2542066"/>
            <a:ext cx="1080000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F8F6AFAB-8690-7443-E42D-BC76C4EADA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16"/>
              </a:ext>
            </a:extLst>
          </a:blip>
          <a:srcRect l="-9144" t="-3130" r="-6877" b="-1"/>
          <a:stretch>
            <a:fillRect/>
          </a:stretch>
        </p:blipFill>
        <p:spPr>
          <a:xfrm>
            <a:off x="9045587" y="2561061"/>
            <a:ext cx="1080002" cy="1080000"/>
          </a:xfrm>
          <a:prstGeom prst="rect">
            <a:avLst/>
          </a:prstGeom>
        </p:spPr>
      </p:pic>
      <p:sp>
        <p:nvSpPr>
          <p:cNvPr id="34" name="Овал 33"/>
          <p:cNvSpPr/>
          <p:nvPr/>
        </p:nvSpPr>
        <p:spPr>
          <a:xfrm>
            <a:off x="6202896" y="3678392"/>
            <a:ext cx="900000" cy="900000"/>
          </a:xfrm>
          <a:prstGeom prst="ellipse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EF</a:t>
            </a:r>
          </a:p>
          <a:p>
            <a:pPr algn="ctr"/>
            <a:r>
              <a:rPr lang="en-US" dirty="0" smtClean="0"/>
              <a:t>Core</a:t>
            </a:r>
            <a:endParaRPr lang="ru-RU" dirty="0"/>
          </a:p>
        </p:txBody>
      </p:sp>
      <p:sp>
        <p:nvSpPr>
          <p:cNvPr id="36" name="Овал 35"/>
          <p:cNvSpPr/>
          <p:nvPr/>
        </p:nvSpPr>
        <p:spPr>
          <a:xfrm>
            <a:off x="8572481" y="3702568"/>
            <a:ext cx="900000" cy="900000"/>
          </a:xfrm>
          <a:prstGeom prst="ellipse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WPF</a:t>
            </a:r>
            <a:endParaRPr lang="ru-RU" dirty="0"/>
          </a:p>
        </p:txBody>
      </p:sp>
      <p:sp>
        <p:nvSpPr>
          <p:cNvPr id="37" name="Овал 36"/>
          <p:cNvSpPr/>
          <p:nvPr/>
        </p:nvSpPr>
        <p:spPr>
          <a:xfrm>
            <a:off x="5030020" y="3669443"/>
            <a:ext cx="900000" cy="900000"/>
          </a:xfrm>
          <a:prstGeom prst="ellipse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.</a:t>
            </a:r>
            <a:r>
              <a:rPr lang="en-US" dirty="0" smtClean="0"/>
              <a:t>NET</a:t>
            </a:r>
            <a:endParaRPr lang="ru-RU" dirty="0"/>
          </a:p>
        </p:txBody>
      </p:sp>
      <p:sp>
        <p:nvSpPr>
          <p:cNvPr id="40" name="Овал 39"/>
          <p:cNvSpPr/>
          <p:nvPr/>
        </p:nvSpPr>
        <p:spPr>
          <a:xfrm>
            <a:off x="2541790" y="2547036"/>
            <a:ext cx="1080000" cy="1080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39" name="Рисунок 38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4356" y="2566853"/>
            <a:ext cx="1080000" cy="1080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909818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Скругленный прямоугольник 9"/>
          <p:cNvSpPr/>
          <p:nvPr/>
        </p:nvSpPr>
        <p:spPr>
          <a:xfrm>
            <a:off x="1845905" y="2060575"/>
            <a:ext cx="5170714" cy="2520000"/>
          </a:xfrm>
          <a:prstGeom prst="roundRect">
            <a:avLst/>
          </a:prstGeom>
          <a:solidFill>
            <a:srgbClr val="98FB98"/>
          </a:solidFill>
          <a:ln w="15875">
            <a:solidFill>
              <a:srgbClr val="2E8B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Скругленный прямоугольник 6"/>
          <p:cNvSpPr/>
          <p:nvPr/>
        </p:nvSpPr>
        <p:spPr>
          <a:xfrm>
            <a:off x="7657322" y="2060575"/>
            <a:ext cx="2597020" cy="2520000"/>
          </a:xfrm>
          <a:prstGeom prst="roundRect">
            <a:avLst/>
          </a:prstGeom>
          <a:solidFill>
            <a:srgbClr val="98FB98"/>
          </a:solidFill>
          <a:ln w="15875">
            <a:solidFill>
              <a:srgbClr val="2E8B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Скругленный прямоугольник 8"/>
          <p:cNvSpPr/>
          <p:nvPr/>
        </p:nvSpPr>
        <p:spPr>
          <a:xfrm>
            <a:off x="2141246" y="2947761"/>
            <a:ext cx="2112606" cy="1260000"/>
          </a:xfrm>
          <a:prstGeom prst="roundRect">
            <a:avLst/>
          </a:prstGeom>
          <a:solidFill>
            <a:srgbClr val="98FB98"/>
          </a:solidFill>
          <a:ln w="15875">
            <a:solidFill>
              <a:srgbClr val="2E8B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Скругленный прямоугольник 10"/>
          <p:cNvSpPr/>
          <p:nvPr/>
        </p:nvSpPr>
        <p:spPr>
          <a:xfrm>
            <a:off x="4578932" y="2947761"/>
            <a:ext cx="2112606" cy="1260000"/>
          </a:xfrm>
          <a:prstGeom prst="roundRect">
            <a:avLst/>
          </a:prstGeom>
          <a:solidFill>
            <a:srgbClr val="98FB98"/>
          </a:solidFill>
          <a:ln w="15875">
            <a:solidFill>
              <a:srgbClr val="2E8B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Скругленный прямоугольник 11"/>
          <p:cNvSpPr/>
          <p:nvPr/>
        </p:nvSpPr>
        <p:spPr>
          <a:xfrm>
            <a:off x="7856049" y="2947761"/>
            <a:ext cx="2112606" cy="1260000"/>
          </a:xfrm>
          <a:prstGeom prst="roundRect">
            <a:avLst/>
          </a:prstGeom>
          <a:solidFill>
            <a:srgbClr val="98FB98"/>
          </a:solidFill>
          <a:ln w="15875">
            <a:solidFill>
              <a:srgbClr val="2E8B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838200" y="365125"/>
            <a:ext cx="10515600" cy="1325563"/>
          </a:xfrm>
          <a:prstGeom prst="roundRect">
            <a:avLst/>
          </a:prstGeom>
          <a:solidFill>
            <a:srgbClr val="2E8B5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solidFill>
                  <a:schemeClr val="bg1"/>
                </a:solidFill>
              </a:rPr>
              <a:t> Архитектура системы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141246" y="3105291"/>
            <a:ext cx="2104181" cy="944940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ru-RU" sz="2400" dirty="0" smtClean="0"/>
              <a:t>База данных</a:t>
            </a:r>
          </a:p>
          <a:p>
            <a:pPr marL="0" indent="0" algn="ctr">
              <a:buNone/>
            </a:pPr>
            <a:r>
              <a:rPr lang="en-US" sz="2400" dirty="0" smtClean="0"/>
              <a:t>MSSQL</a:t>
            </a:r>
            <a:endParaRPr lang="ru-RU" sz="2400" dirty="0"/>
          </a:p>
        </p:txBody>
      </p:sp>
      <p:sp>
        <p:nvSpPr>
          <p:cNvPr id="8" name="Скругленный прямоугольник 7"/>
          <p:cNvSpPr/>
          <p:nvPr/>
        </p:nvSpPr>
        <p:spPr>
          <a:xfrm>
            <a:off x="10453800" y="5743575"/>
            <a:ext cx="900000" cy="900000"/>
          </a:xfrm>
          <a:prstGeom prst="roundRect">
            <a:avLst/>
          </a:prstGeom>
          <a:solidFill>
            <a:srgbClr val="2E8B5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dirty="0" smtClean="0"/>
              <a:t>7</a:t>
            </a:r>
            <a:r>
              <a:rPr lang="en-US" sz="2800" dirty="0" smtClean="0"/>
              <a:t>/9</a:t>
            </a:r>
            <a:endParaRPr lang="ru-RU" sz="2800" dirty="0"/>
          </a:p>
        </p:txBody>
      </p:sp>
      <p:sp>
        <p:nvSpPr>
          <p:cNvPr id="13" name="Объект 2"/>
          <p:cNvSpPr txBox="1">
            <a:spLocks/>
          </p:cNvSpPr>
          <p:nvPr/>
        </p:nvSpPr>
        <p:spPr>
          <a:xfrm>
            <a:off x="4570507" y="3393422"/>
            <a:ext cx="2112606" cy="31735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dirty="0" smtClean="0"/>
              <a:t>WebAPI</a:t>
            </a:r>
            <a:endParaRPr lang="ru-RU" sz="2400" dirty="0"/>
          </a:p>
        </p:txBody>
      </p:sp>
      <p:cxnSp>
        <p:nvCxnSpPr>
          <p:cNvPr id="5" name="Прямая соединительная линия 4"/>
          <p:cNvCxnSpPr>
            <a:stCxn id="9" idx="3"/>
            <a:endCxn id="11" idx="1"/>
          </p:cNvCxnSpPr>
          <p:nvPr/>
        </p:nvCxnSpPr>
        <p:spPr>
          <a:xfrm>
            <a:off x="4253852" y="3577761"/>
            <a:ext cx="325080" cy="0"/>
          </a:xfrm>
          <a:prstGeom prst="line">
            <a:avLst/>
          </a:prstGeom>
          <a:ln w="19050">
            <a:solidFill>
              <a:srgbClr val="2E8B5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/>
          <p:cNvCxnSpPr>
            <a:stCxn id="11" idx="3"/>
            <a:endCxn id="12" idx="1"/>
          </p:cNvCxnSpPr>
          <p:nvPr/>
        </p:nvCxnSpPr>
        <p:spPr>
          <a:xfrm>
            <a:off x="6691538" y="3577761"/>
            <a:ext cx="1164511" cy="0"/>
          </a:xfrm>
          <a:prstGeom prst="line">
            <a:avLst/>
          </a:prstGeom>
          <a:ln w="19050">
            <a:solidFill>
              <a:srgbClr val="2E8B5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852776" y="2117057"/>
            <a:ext cx="11272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 smtClean="0"/>
              <a:t>Сервер</a:t>
            </a:r>
            <a:endParaRPr lang="ru-RU" sz="2400" dirty="0"/>
          </a:p>
        </p:txBody>
      </p:sp>
      <p:sp>
        <p:nvSpPr>
          <p:cNvPr id="17" name="TextBox 16"/>
          <p:cNvSpPr txBox="1"/>
          <p:nvPr/>
        </p:nvSpPr>
        <p:spPr>
          <a:xfrm>
            <a:off x="7884705" y="2122415"/>
            <a:ext cx="21422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 smtClean="0"/>
              <a:t>Клиентский ПК</a:t>
            </a:r>
            <a:endParaRPr lang="ru-RU" sz="2400" dirty="0"/>
          </a:p>
        </p:txBody>
      </p:sp>
      <p:sp>
        <p:nvSpPr>
          <p:cNvPr id="18" name="Объект 2"/>
          <p:cNvSpPr txBox="1">
            <a:spLocks/>
          </p:cNvSpPr>
          <p:nvPr/>
        </p:nvSpPr>
        <p:spPr>
          <a:xfrm>
            <a:off x="7856048" y="3393422"/>
            <a:ext cx="2112607" cy="31735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dirty="0" smtClean="0"/>
              <a:t>Forestry.exe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915964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Скругленный прямоугольник 5"/>
          <p:cNvSpPr/>
          <p:nvPr/>
        </p:nvSpPr>
        <p:spPr>
          <a:xfrm>
            <a:off x="838200" y="365125"/>
            <a:ext cx="10515600" cy="1325563"/>
          </a:xfrm>
          <a:prstGeom prst="roundRect">
            <a:avLst/>
          </a:prstGeom>
          <a:solidFill>
            <a:srgbClr val="2E8B5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solidFill>
                  <a:schemeClr val="bg1"/>
                </a:solidFill>
              </a:rPr>
              <a:t> Преимущества проекта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8" name="Скругленный прямоугольник 7"/>
          <p:cNvSpPr/>
          <p:nvPr/>
        </p:nvSpPr>
        <p:spPr>
          <a:xfrm>
            <a:off x="10453800" y="5743575"/>
            <a:ext cx="900000" cy="900000"/>
          </a:xfrm>
          <a:prstGeom prst="roundRect">
            <a:avLst/>
          </a:prstGeom>
          <a:solidFill>
            <a:srgbClr val="2E8B5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dirty="0" smtClean="0"/>
              <a:t>8</a:t>
            </a:r>
            <a:r>
              <a:rPr lang="en-US" sz="2800" dirty="0" smtClean="0"/>
              <a:t>/9</a:t>
            </a:r>
            <a:endParaRPr lang="ru-RU" sz="2800" dirty="0"/>
          </a:p>
        </p:txBody>
      </p:sp>
      <p:sp>
        <p:nvSpPr>
          <p:cNvPr id="7" name="Скругленный прямоугольник 6"/>
          <p:cNvSpPr/>
          <p:nvPr/>
        </p:nvSpPr>
        <p:spPr>
          <a:xfrm>
            <a:off x="838200" y="2060575"/>
            <a:ext cx="2520000" cy="2520000"/>
          </a:xfrm>
          <a:prstGeom prst="roundRect">
            <a:avLst/>
          </a:prstGeom>
          <a:solidFill>
            <a:srgbClr val="98FB98"/>
          </a:solidFill>
          <a:ln w="15875">
            <a:solidFill>
              <a:srgbClr val="2E8B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Объект 2"/>
          <p:cNvSpPr txBox="1">
            <a:spLocks/>
          </p:cNvSpPr>
          <p:nvPr/>
        </p:nvSpPr>
        <p:spPr>
          <a:xfrm>
            <a:off x="936150" y="3760075"/>
            <a:ext cx="2324100" cy="4354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ru-RU" sz="2400" dirty="0" smtClean="0"/>
              <a:t>Оптимизация процессов</a:t>
            </a:r>
            <a:endParaRPr lang="ru-RU" dirty="0"/>
          </a:p>
        </p:txBody>
      </p:sp>
      <p:sp>
        <p:nvSpPr>
          <p:cNvPr id="11" name="Скругленный прямоугольник 10"/>
          <p:cNvSpPr/>
          <p:nvPr/>
        </p:nvSpPr>
        <p:spPr>
          <a:xfrm>
            <a:off x="6164318" y="2060575"/>
            <a:ext cx="2520000" cy="2520000"/>
          </a:xfrm>
          <a:prstGeom prst="roundRect">
            <a:avLst/>
          </a:prstGeom>
          <a:solidFill>
            <a:srgbClr val="98FB98"/>
          </a:solidFill>
          <a:ln w="15875">
            <a:solidFill>
              <a:srgbClr val="2E8B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Объект 2"/>
          <p:cNvSpPr txBox="1">
            <a:spLocks/>
          </p:cNvSpPr>
          <p:nvPr/>
        </p:nvSpPr>
        <p:spPr>
          <a:xfrm>
            <a:off x="6328974" y="3760075"/>
            <a:ext cx="2314575" cy="4354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ru-RU" sz="2400" dirty="0" smtClean="0"/>
              <a:t>Автономность</a:t>
            </a:r>
          </a:p>
        </p:txBody>
      </p:sp>
      <p:sp>
        <p:nvSpPr>
          <p:cNvPr id="13" name="Скругленный прямоугольник 12"/>
          <p:cNvSpPr/>
          <p:nvPr/>
        </p:nvSpPr>
        <p:spPr>
          <a:xfrm>
            <a:off x="8833800" y="2060575"/>
            <a:ext cx="2520000" cy="2520000"/>
          </a:xfrm>
          <a:prstGeom prst="roundRect">
            <a:avLst/>
          </a:prstGeom>
          <a:solidFill>
            <a:srgbClr val="98FB98"/>
          </a:solidFill>
          <a:ln w="15875">
            <a:solidFill>
              <a:srgbClr val="2E8B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Объект 2"/>
          <p:cNvSpPr txBox="1">
            <a:spLocks/>
          </p:cNvSpPr>
          <p:nvPr/>
        </p:nvSpPr>
        <p:spPr>
          <a:xfrm>
            <a:off x="8844212" y="3760075"/>
            <a:ext cx="2520000" cy="4354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ru-RU" sz="2400" dirty="0" smtClean="0"/>
              <a:t>Расширяемость</a:t>
            </a:r>
          </a:p>
        </p:txBody>
      </p:sp>
      <p:sp>
        <p:nvSpPr>
          <p:cNvPr id="18" name="Скругленный прямоугольник 17"/>
          <p:cNvSpPr/>
          <p:nvPr/>
        </p:nvSpPr>
        <p:spPr>
          <a:xfrm>
            <a:off x="3507682" y="2060575"/>
            <a:ext cx="2520000" cy="2520000"/>
          </a:xfrm>
          <a:prstGeom prst="roundRect">
            <a:avLst/>
          </a:prstGeom>
          <a:solidFill>
            <a:srgbClr val="98FB98"/>
          </a:solidFill>
          <a:ln w="15875">
            <a:solidFill>
              <a:srgbClr val="2E8B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Объект 2"/>
          <p:cNvSpPr txBox="1">
            <a:spLocks/>
          </p:cNvSpPr>
          <p:nvPr/>
        </p:nvSpPr>
        <p:spPr>
          <a:xfrm>
            <a:off x="3456150" y="3765108"/>
            <a:ext cx="2520000" cy="4354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sz="2400" dirty="0" smtClean="0"/>
              <a:t>Точность данных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8200" y="2349000"/>
            <a:ext cx="1080000" cy="1080000"/>
          </a:xfrm>
          <a:prstGeom prst="rect">
            <a:avLst/>
          </a:prstGeom>
        </p:spPr>
      </p:pic>
      <p:pic>
        <p:nvPicPr>
          <p:cNvPr id="20" name="Рисунок 1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7682" y="2372842"/>
            <a:ext cx="1080000" cy="1080000"/>
          </a:xfrm>
          <a:prstGeom prst="rect">
            <a:avLst/>
          </a:prstGeom>
        </p:spPr>
      </p:pic>
      <p:pic>
        <p:nvPicPr>
          <p:cNvPr id="21" name="Рисунок 2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6261" y="2370325"/>
            <a:ext cx="1080000" cy="1080000"/>
          </a:xfrm>
          <a:prstGeom prst="rect">
            <a:avLst/>
          </a:prstGeom>
        </p:spPr>
      </p:pic>
      <p:pic>
        <p:nvPicPr>
          <p:cNvPr id="22" name="Рисунок 2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800" y="2370325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618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Скругленный прямоугольник 9"/>
          <p:cNvSpPr/>
          <p:nvPr/>
        </p:nvSpPr>
        <p:spPr>
          <a:xfrm>
            <a:off x="838200" y="2060576"/>
            <a:ext cx="5257800" cy="1368424"/>
          </a:xfrm>
          <a:prstGeom prst="roundRect">
            <a:avLst/>
          </a:prstGeom>
          <a:solidFill>
            <a:srgbClr val="98FB98"/>
          </a:solidFill>
          <a:ln w="15875">
            <a:solidFill>
              <a:srgbClr val="2E8B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838200" y="365125"/>
            <a:ext cx="10515600" cy="1325563"/>
          </a:xfrm>
          <a:prstGeom prst="roundRect">
            <a:avLst/>
          </a:prstGeom>
          <a:solidFill>
            <a:srgbClr val="2E8B5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solidFill>
                  <a:schemeClr val="bg1"/>
                </a:solidFill>
              </a:rPr>
              <a:t> Заключение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2324911"/>
            <a:ext cx="5257800" cy="1104089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ru-RU" dirty="0" smtClean="0"/>
              <a:t>Поставленная цель достигнута, </a:t>
            </a:r>
          </a:p>
          <a:p>
            <a:pPr marL="0" indent="0" algn="ctr">
              <a:buNone/>
            </a:pPr>
            <a:r>
              <a:rPr lang="ru-RU" dirty="0" smtClean="0"/>
              <a:t>а задачи выполнены</a:t>
            </a:r>
            <a:endParaRPr lang="ru-RU" dirty="0"/>
          </a:p>
        </p:txBody>
      </p:sp>
      <p:sp>
        <p:nvSpPr>
          <p:cNvPr id="8" name="Скругленный прямоугольник 7"/>
          <p:cNvSpPr/>
          <p:nvPr/>
        </p:nvSpPr>
        <p:spPr>
          <a:xfrm>
            <a:off x="10453800" y="5743575"/>
            <a:ext cx="900000" cy="900000"/>
          </a:xfrm>
          <a:prstGeom prst="roundRect">
            <a:avLst/>
          </a:prstGeom>
          <a:solidFill>
            <a:srgbClr val="2E8B5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dirty="0" smtClean="0"/>
              <a:t>9</a:t>
            </a:r>
            <a:r>
              <a:rPr lang="en-US" sz="2800" dirty="0" smtClean="0"/>
              <a:t>/9</a:t>
            </a:r>
            <a:endParaRPr lang="ru-RU" sz="28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3800" y="1969568"/>
            <a:ext cx="3600000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7959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Скругленный прямоугольник 15"/>
          <p:cNvSpPr/>
          <p:nvPr/>
        </p:nvSpPr>
        <p:spPr>
          <a:xfrm>
            <a:off x="4935116" y="6192883"/>
            <a:ext cx="2321767" cy="515388"/>
          </a:xfrm>
          <a:prstGeom prst="roundRect">
            <a:avLst/>
          </a:prstGeom>
          <a:solidFill>
            <a:srgbClr val="2E8B5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Скругленный прямоугольник 14"/>
          <p:cNvSpPr/>
          <p:nvPr/>
        </p:nvSpPr>
        <p:spPr>
          <a:xfrm>
            <a:off x="838200" y="4822872"/>
            <a:ext cx="10515600" cy="989013"/>
          </a:xfrm>
          <a:prstGeom prst="roundRect">
            <a:avLst/>
          </a:prstGeom>
          <a:solidFill>
            <a:srgbClr val="98FB98"/>
          </a:solidFill>
          <a:ln w="15875">
            <a:solidFill>
              <a:srgbClr val="2E8B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Скругленный прямоугольник 13"/>
          <p:cNvSpPr/>
          <p:nvPr/>
        </p:nvSpPr>
        <p:spPr>
          <a:xfrm>
            <a:off x="838200" y="2641874"/>
            <a:ext cx="10515600" cy="1800000"/>
          </a:xfrm>
          <a:prstGeom prst="roundRect">
            <a:avLst/>
          </a:prstGeom>
          <a:solidFill>
            <a:srgbClr val="98FB98"/>
          </a:solidFill>
          <a:ln w="15875">
            <a:solidFill>
              <a:srgbClr val="2E8B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Скругленный прямоугольник 12"/>
          <p:cNvSpPr/>
          <p:nvPr/>
        </p:nvSpPr>
        <p:spPr>
          <a:xfrm>
            <a:off x="838200" y="365124"/>
            <a:ext cx="10515600" cy="2065433"/>
          </a:xfrm>
          <a:prstGeom prst="roundRect">
            <a:avLst/>
          </a:prstGeom>
          <a:solidFill>
            <a:srgbClr val="2E8B5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Заголовок 5"/>
          <p:cNvSpPr>
            <a:spLocks noGrp="1"/>
          </p:cNvSpPr>
          <p:nvPr>
            <p:ph type="ctrTitle"/>
          </p:nvPr>
        </p:nvSpPr>
        <p:spPr>
          <a:xfrm>
            <a:off x="0" y="3049636"/>
            <a:ext cx="12192000" cy="1011238"/>
          </a:xfrm>
        </p:spPr>
        <p:txBody>
          <a:bodyPr>
            <a:noAutofit/>
          </a:bodyPr>
          <a:lstStyle/>
          <a:p>
            <a:r>
              <a:rPr lang="ru-RU" sz="3200" dirty="0" smtClean="0">
                <a:latin typeface="+mn-lt"/>
                <a:cs typeface="Times New Roman" panose="02020603050405020304" pitchFamily="18" charset="0"/>
              </a:rPr>
              <a:t>КУРСОВОЙ ПРОЕКТ</a:t>
            </a:r>
            <a:br>
              <a:rPr lang="ru-RU" sz="3200" dirty="0" smtClean="0">
                <a:latin typeface="+mn-lt"/>
                <a:cs typeface="Times New Roman" panose="02020603050405020304" pitchFamily="18" charset="0"/>
              </a:rPr>
            </a:br>
            <a:r>
              <a:rPr lang="ru-RU" sz="3200" dirty="0" smtClean="0">
                <a:latin typeface="+mn-lt"/>
                <a:cs typeface="Times New Roman" panose="02020603050405020304" pitchFamily="18" charset="0"/>
              </a:rPr>
              <a:t>РАЗРАБОТКА ПОДСИСТЕМЫ УЧЕТА ЛЕСНЫХ УЧАСТКОВ</a:t>
            </a:r>
            <a:endParaRPr lang="ru-RU" sz="3200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7" name="Подзаголовок 6"/>
          <p:cNvSpPr>
            <a:spLocks noGrp="1"/>
          </p:cNvSpPr>
          <p:nvPr>
            <p:ph type="subTitle" idx="1"/>
          </p:nvPr>
        </p:nvSpPr>
        <p:spPr>
          <a:xfrm>
            <a:off x="2209800" y="4876573"/>
            <a:ext cx="8609176" cy="989012"/>
          </a:xfrm>
        </p:spPr>
        <p:txBody>
          <a:bodyPr>
            <a:normAutofit/>
          </a:bodyPr>
          <a:lstStyle/>
          <a:p>
            <a:pPr algn="r"/>
            <a:r>
              <a:rPr lang="ru-RU" dirty="0" smtClean="0"/>
              <a:t>Студент группы ИСПП-21: Дружинин Денис Альбертович</a:t>
            </a:r>
          </a:p>
          <a:p>
            <a:pPr algn="r"/>
            <a:r>
              <a:rPr lang="ru-RU" dirty="0" smtClean="0"/>
              <a:t>Руководитель: Маломан Юлия Сергеевна</a:t>
            </a:r>
            <a:endParaRPr lang="ru-RU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3048000" y="399233"/>
            <a:ext cx="6096000" cy="2031325"/>
          </a:xfrm>
          <a:prstGeom prst="rect">
            <a:avLst/>
          </a:prstGeom>
          <a:solidFill>
            <a:srgbClr val="2E8B56"/>
          </a:solidFill>
        </p:spPr>
        <p:txBody>
          <a:bodyPr>
            <a:spAutoFit/>
          </a:bodyPr>
          <a:lstStyle/>
          <a:p>
            <a:pPr algn="ctr"/>
            <a:r>
              <a:rPr lang="ru-RU" sz="1400" b="1" dirty="0" smtClean="0">
                <a:solidFill>
                  <a:schemeClr val="bg1"/>
                </a:solidFill>
              </a:rPr>
              <a:t>ФЕДЕРАЛЬНОЕ ГОСУДАРСТВЕННОЕ БЮДЖЕТНОЕ ОБРАЗОВАТЕЛЬНОЕ</a:t>
            </a:r>
            <a:endParaRPr lang="en-US" sz="1400" b="1" dirty="0" smtClean="0">
              <a:solidFill>
                <a:schemeClr val="bg1"/>
              </a:solidFill>
            </a:endParaRPr>
          </a:p>
          <a:p>
            <a:pPr algn="ctr"/>
            <a:r>
              <a:rPr lang="ru-RU" sz="1400" b="1" dirty="0" smtClean="0">
                <a:solidFill>
                  <a:schemeClr val="bg1"/>
                </a:solidFill>
              </a:rPr>
              <a:t> УЧРЕЖДЕНИЕ ВЫСШЕГО ОБРАЗОВАНИЯ </a:t>
            </a:r>
            <a:endParaRPr lang="en-US" sz="1400" b="1" dirty="0" smtClean="0">
              <a:solidFill>
                <a:schemeClr val="bg1"/>
              </a:solidFill>
            </a:endParaRPr>
          </a:p>
          <a:p>
            <a:pPr algn="ctr"/>
            <a:r>
              <a:rPr lang="ru-RU" sz="1400" b="1" dirty="0" smtClean="0">
                <a:solidFill>
                  <a:schemeClr val="bg1"/>
                </a:solidFill>
              </a:rPr>
              <a:t>«САНКТ-ПЕТЕРБУРГСКИЙ ГОСУДАРСТВЕННЫЙ УНИВЕРСИТЕТ ТЕЛЕКОММУНИКАЦИЙ ИМ. ПРОФ. М.А. БОНЧ-БРУЕВИЧА» </a:t>
            </a:r>
            <a:endParaRPr lang="en-US" sz="1400" b="1" dirty="0">
              <a:solidFill>
                <a:schemeClr val="bg1"/>
              </a:solidFill>
            </a:endParaRPr>
          </a:p>
          <a:p>
            <a:pPr algn="ctr"/>
            <a:r>
              <a:rPr lang="ru-RU" sz="1400" b="1" dirty="0" smtClean="0">
                <a:solidFill>
                  <a:schemeClr val="bg1"/>
                </a:solidFill>
              </a:rPr>
              <a:t>(СПбГУТ) </a:t>
            </a:r>
            <a:endParaRPr lang="en-US" sz="1400" b="1" dirty="0" smtClean="0">
              <a:solidFill>
                <a:schemeClr val="bg1"/>
              </a:solidFill>
            </a:endParaRPr>
          </a:p>
          <a:p>
            <a:pPr algn="ctr"/>
            <a:endParaRPr lang="en-US" sz="1400" b="1" dirty="0" smtClean="0">
              <a:solidFill>
                <a:schemeClr val="bg1"/>
              </a:solidFill>
            </a:endParaRPr>
          </a:p>
          <a:p>
            <a:pPr algn="ctr"/>
            <a:r>
              <a:rPr lang="ru-RU" sz="1400" b="1" dirty="0" smtClean="0">
                <a:solidFill>
                  <a:schemeClr val="bg1"/>
                </a:solidFill>
              </a:rPr>
              <a:t>АРХАНГЕЛЬСКИЙ КОЛЛЕДЖ ТЕЛЕКОММУНИКАЦИЙ</a:t>
            </a:r>
            <a:endParaRPr lang="en-US" sz="1400" b="1" dirty="0" smtClean="0">
              <a:solidFill>
                <a:schemeClr val="bg1"/>
              </a:solidFill>
            </a:endParaRPr>
          </a:p>
          <a:p>
            <a:pPr algn="ctr"/>
            <a:r>
              <a:rPr lang="ru-RU" sz="1400" b="1" dirty="0" smtClean="0">
                <a:solidFill>
                  <a:schemeClr val="bg1"/>
                </a:solidFill>
              </a:rPr>
              <a:t> ИМ. Б.Л. РОЗИНГА</a:t>
            </a:r>
            <a:r>
              <a:rPr lang="en-US" sz="1400" b="1" dirty="0" smtClean="0">
                <a:solidFill>
                  <a:schemeClr val="bg1"/>
                </a:solidFill>
              </a:rPr>
              <a:t> </a:t>
            </a:r>
            <a:r>
              <a:rPr lang="ru-RU" sz="1400" b="1" dirty="0" smtClean="0">
                <a:solidFill>
                  <a:schemeClr val="bg1"/>
                </a:solidFill>
              </a:rPr>
              <a:t>(ФИЛИАЛ) СПбГУТ </a:t>
            </a:r>
            <a:endParaRPr lang="en-US" sz="1400" b="1" dirty="0" smtClean="0">
              <a:solidFill>
                <a:schemeClr val="bg1"/>
              </a:solidFill>
            </a:endParaRPr>
          </a:p>
          <a:p>
            <a:pPr algn="ctr"/>
            <a:r>
              <a:rPr lang="ru-RU" sz="1400" b="1" dirty="0" smtClean="0">
                <a:solidFill>
                  <a:schemeClr val="bg1"/>
                </a:solidFill>
              </a:rPr>
              <a:t>(АКТ (ф) СПбГУТ)</a:t>
            </a:r>
            <a:endParaRPr lang="ru-RU" sz="1400" b="1" dirty="0">
              <a:solidFill>
                <a:schemeClr val="bg1"/>
              </a:solidFill>
            </a:endParaRPr>
          </a:p>
        </p:txBody>
      </p:sp>
      <p:sp>
        <p:nvSpPr>
          <p:cNvPr id="11" name="Подзаголовок 6"/>
          <p:cNvSpPr txBox="1">
            <a:spLocks/>
          </p:cNvSpPr>
          <p:nvPr/>
        </p:nvSpPr>
        <p:spPr>
          <a:xfrm>
            <a:off x="4714875" y="6303019"/>
            <a:ext cx="2762250" cy="4270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800" dirty="0" smtClean="0">
                <a:solidFill>
                  <a:schemeClr val="bg1"/>
                </a:solidFill>
              </a:rPr>
              <a:t>Архангельск, 2025</a:t>
            </a:r>
            <a:endParaRPr lang="ru-RU" sz="1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0791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394</TotalTime>
  <Words>249</Words>
  <Application>Microsoft Office PowerPoint</Application>
  <PresentationFormat>Широкоэкранный</PresentationFormat>
  <Paragraphs>72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Тема Office</vt:lpstr>
      <vt:lpstr>КУРСОВОЙ ПРОЕКТ РАЗРАБОТКА ПОДСИСТЕМЫ УЧЕТА ЛЕСНЫХ УЧАСТКОВ</vt:lpstr>
      <vt:lpstr> Актуальность</vt:lpstr>
      <vt:lpstr> Целевая аудитория</vt:lpstr>
      <vt:lpstr> Цель</vt:lpstr>
      <vt:lpstr> Задачи</vt:lpstr>
      <vt:lpstr> Средства разработки</vt:lpstr>
      <vt:lpstr> Архитектура системы</vt:lpstr>
      <vt:lpstr> Преимущества проекта</vt:lpstr>
      <vt:lpstr> Заключение</vt:lpstr>
      <vt:lpstr>КУРСОВОЙ ПРОЕКТ РАЗРАБОТКА ПОДСИСТЕМЫ УЧЕТА ЛЕСНЫХ УЧАСТКОВ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Admin</dc:creator>
  <cp:lastModifiedBy>Admin</cp:lastModifiedBy>
  <cp:revision>29</cp:revision>
  <dcterms:created xsi:type="dcterms:W3CDTF">2025-12-08T15:21:38Z</dcterms:created>
  <dcterms:modified xsi:type="dcterms:W3CDTF">2025-12-08T22:40:16Z</dcterms:modified>
</cp:coreProperties>
</file>